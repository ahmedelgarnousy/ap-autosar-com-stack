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1" r:id="rId7"/>
    <p:sldId id="264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80D9F-D23C-C662-2E6D-02A7D3DFE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3BCE2-7214-4B17-A58E-2513DBAD3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3A60-E9AD-2E90-5C49-2D0C1093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C3CF6-29F4-4ECE-8D14-93B243003C22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3D39B-0C55-C8CB-7C12-9C3833FC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4D037-C527-7B24-BED7-78557C72F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10E7-6FEC-4842-AB84-237C48AAA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55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3FA7E-50D0-8C82-B965-D6B547F99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192FB-CD32-D759-3FB7-A42C99FF0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7BEDD-F408-4879-C5F2-131CB462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C3CF6-29F4-4ECE-8D14-93B243003C22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B8CD3-2331-1789-D19E-820B3B432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0C582-21B6-D36B-233E-181F7416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10E7-6FEC-4842-AB84-237C48AAA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4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A8C83-22F6-B580-95C1-BEEB6FAB8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4CFA3-B12A-F924-588B-94930C6D6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08545-3871-F97B-C88E-718DB654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C3CF6-29F4-4ECE-8D14-93B243003C22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B7007-F8C6-73F2-95B1-5DEF0EA20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0B18-F571-6671-7C58-A31EECC56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10E7-6FEC-4842-AB84-237C48AAA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7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E3B96-8F32-B127-6291-E831839E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90810-D386-3B12-EA15-2BA172666D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47590-8EA6-F6EC-5319-909D3B83B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1631C-0D59-A085-4922-82BDE7509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C3CF6-29F4-4ECE-8D14-93B243003C22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83104-5FBD-0809-D8EF-BE8B4653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5005E-6CDD-B873-C109-CF8926937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10E7-6FEC-4842-AB84-237C48AAA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0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E1374-AF31-ECDA-287E-E46CDC02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C25E0-DDF2-B1C6-4B40-52707361F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03E02-CA8D-04EF-4845-26FE5827F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E2E99B-0CFC-CCA6-8E36-8AF859E50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67F9BA-1A98-0BCF-9A1A-C43121B4C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627D16-58CE-F442-D38B-4B7B6053B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C3CF6-29F4-4ECE-8D14-93B243003C22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B6869-6044-F056-6D24-25D114D76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F91252-90E6-603A-A59A-3B8A718D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10E7-6FEC-4842-AB84-237C48AAA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18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5748B-701D-FFE8-4307-0C721283A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E5EF5-686E-2518-5452-8394CB1B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C3CF6-29F4-4ECE-8D14-93B243003C22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72E33-B4E2-8A3B-31BF-97F885695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C6CA6-F121-DF83-867F-5F12AA4A9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10E7-6FEC-4842-AB84-237C48AAA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5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F633CD-473A-12FC-8A58-CF09BC73D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C3CF6-29F4-4ECE-8D14-93B243003C22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6EA71-C7DE-8E38-505D-B5251788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1CE88-D6C5-715A-734F-493AD91F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10E7-6FEC-4842-AB84-237C48AAA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4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12992-B312-1B27-265E-AE73481E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17B33-E66A-6353-F301-1EBAC9DCE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78AA5-CA8D-745E-344D-B4D85A72B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8DB1B-61AB-ED90-D50F-90F1EC6A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C3CF6-29F4-4ECE-8D14-93B243003C22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BCD67-2A8B-8F8D-7BF8-3C906D137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6A32-3599-C992-45B7-D1B1224F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10E7-6FEC-4842-AB84-237C48AAA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09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9F96-A7C4-6AC0-7535-5BAE11F6F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605DA0-473B-23D8-8C33-055D52254D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0D505-FCFC-F96D-BA3D-14294504B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FD403-EC28-78FB-BBE8-55F5372E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C3CF6-29F4-4ECE-8D14-93B243003C22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27606-64E4-E3E7-41FC-3A2C859C5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12889-1A6A-1139-4026-F140E263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10E7-6FEC-4842-AB84-237C48AAA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4D26-D70C-8F04-9602-8EA5AE5A6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26797-3153-00E8-8585-64A7C5063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B031C-1BE2-BE7D-C115-BD16E7C78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C3CF6-29F4-4ECE-8D14-93B243003C22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00C90-EE01-9C35-6E4B-3AD1222EC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3E85A-4764-F502-F905-610BB0375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10E7-6FEC-4842-AB84-237C48AAA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4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2265B-056F-86C8-3F46-CECA218C8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0EE90-BE66-154F-912B-531E9F565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7AD58-7C52-CB53-7E47-B5AC36A99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C3CF6-29F4-4ECE-8D14-93B243003C22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E3F52-5D9F-FF75-9463-24613A163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E73A5-8E6F-7872-51CB-C62D5373B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310E7-6FEC-4842-AB84-237C48AAA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6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D90AB4-39E6-D304-77F9-477BED96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CB1BA-9366-C49E-07B9-29E226907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0D7F3-8EC4-70D7-D01E-9006CE793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C3CF6-29F4-4ECE-8D14-93B243003C22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13ECC-A18B-7E66-EE42-FF328F766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E32A4-7A5E-28B2-30E8-62C2463BD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310E7-6FEC-4842-AB84-237C48AAA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xFflt_48yA&amp;list=PLvELk9pEUpAvRzFPXgTdCehKIa3FLhlu4&amp;index=1" TargetMode="External"/><Relationship Id="rId2" Type="http://schemas.openxmlformats.org/officeDocument/2006/relationships/hyperlink" Target="https://www.youtube.com/watch?v=r0g_1XhUB2k&amp;t=24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vector.com/int/en/know-how/autosar/autosar-adaptive/#c122758" TargetMode="External"/><Relationship Id="rId5" Type="http://schemas.openxmlformats.org/officeDocument/2006/relationships/hyperlink" Target="https://www.youtube.com/playlist?list=PLLKv-zcGiHJH16c07tfLamQjYGvsLgjOG" TargetMode="External"/><Relationship Id="rId4" Type="http://schemas.openxmlformats.org/officeDocument/2006/relationships/hyperlink" Target="https://www.youtube.com/playlist?list=PLLKv-zcGiHJEhtB2xd2vGudC-WWc6-Z-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0D5C-8A64-13C0-F07A-3AF69EB71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Adaptive AutoSAR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DB2EB-D076-A4C6-22AD-511D159C57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br>
              <a:rPr lang="en-US" dirty="0"/>
            </a:br>
            <a:r>
              <a:rPr lang="en-US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As modern vehicles become increasingly complex, Adaptive AUTOSAR paves the way for enhanced functionalities, greater flexibility, and improved performance in the realm of automotive computing platforms.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917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659D6-4594-2EA5-D425-8DA49BD726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7963" y="270857"/>
            <a:ext cx="1051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F3C55-C68E-4392-45FB-EDB044CFCB3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3889" y="1448553"/>
            <a:ext cx="10515600" cy="4351338"/>
          </a:xfrm>
        </p:spPr>
        <p:txBody>
          <a:bodyPr/>
          <a:lstStyle/>
          <a:p>
            <a:r>
              <a:rPr lang="en-US" dirty="0"/>
              <a:t>Motivation</a:t>
            </a:r>
          </a:p>
          <a:p>
            <a:r>
              <a:rPr lang="en-US" dirty="0"/>
              <a:t>Adaptive AutoSAR</a:t>
            </a:r>
          </a:p>
          <a:p>
            <a:r>
              <a:rPr lang="en-US" dirty="0"/>
              <a:t>Adaptive AutoSAR Architecture </a:t>
            </a:r>
          </a:p>
        </p:txBody>
      </p:sp>
    </p:spTree>
    <p:extLst>
      <p:ext uri="{BB962C8B-B14F-4D97-AF65-F5344CB8AC3E}">
        <p14:creationId xmlns:p14="http://schemas.microsoft.com/office/powerpoint/2010/main" val="252253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108FA3-9980-B671-A87B-7233A89DDB30}"/>
              </a:ext>
            </a:extLst>
          </p:cNvPr>
          <p:cNvSpPr txBox="1"/>
          <p:nvPr/>
        </p:nvSpPr>
        <p:spPr>
          <a:xfrm>
            <a:off x="3047189" y="648752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214DD-F43B-28D5-7F30-7999A1A0AA21}"/>
              </a:ext>
            </a:extLst>
          </p:cNvPr>
          <p:cNvSpPr txBox="1"/>
          <p:nvPr/>
        </p:nvSpPr>
        <p:spPr>
          <a:xfrm>
            <a:off x="822490" y="971917"/>
            <a:ext cx="101220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-apple-system"/>
              </a:rPr>
              <a:t>Skills:</a:t>
            </a:r>
          </a:p>
          <a:p>
            <a:r>
              <a:rPr lang="en-US" b="0" i="0" dirty="0">
                <a:effectLst/>
                <a:latin typeface="-apple-system"/>
              </a:rPr>
              <a:t> Embedded Systems · Android Open Source Project (AOSP) · Git · Project Management · Software Development Life Cycle (SDLC) · Communication Protocols · Problem Solving · C (Programming Language) · C++ · Embedded Linux · OOP · Design Patterns · Unit Testing · Data Structures · Algorithms · Android Development · Shell Scripting · Virtualization · Agile Methodologies · Multithreading · Object Oriented Design · Python · Linux · C++ Language · Embedded 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140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5F8870-B5F9-D23F-F4CD-6FE931192441}"/>
              </a:ext>
            </a:extLst>
          </p:cNvPr>
          <p:cNvSpPr txBox="1"/>
          <p:nvPr/>
        </p:nvSpPr>
        <p:spPr>
          <a:xfrm>
            <a:off x="850231" y="1106905"/>
            <a:ext cx="9930063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OO Programing Paradigm: WHY!</a:t>
            </a:r>
          </a:p>
          <a:p>
            <a:r>
              <a:rPr lang="en-US" dirty="0"/>
              <a:t> ● Close correspondence between real-world objects and OOP classes. </a:t>
            </a:r>
          </a:p>
          <a:p>
            <a:r>
              <a:rPr lang="en-US" dirty="0"/>
              <a:t>● Help in Handling complexity of software products </a:t>
            </a:r>
          </a:p>
          <a:p>
            <a:r>
              <a:rPr lang="en-US" dirty="0"/>
              <a:t>● Seems one of best ways to deal with Software Crisis </a:t>
            </a:r>
          </a:p>
          <a:p>
            <a:r>
              <a:rPr lang="en-US" dirty="0"/>
              <a:t>	○ Complex projects ⇒ Over-budget, over-time, buggy, !meet requirements, never delivered </a:t>
            </a:r>
          </a:p>
          <a:p>
            <a:r>
              <a:rPr lang="en-US" dirty="0"/>
              <a:t>● OOP languages are good to an extent for handling complex projects </a:t>
            </a:r>
          </a:p>
          <a:p>
            <a:r>
              <a:rPr lang="en-US" dirty="0"/>
              <a:t>● On the other side</a:t>
            </a:r>
          </a:p>
          <a:p>
            <a:r>
              <a:rPr lang="en-US" dirty="0"/>
              <a:t>	 ○ Some people criticize a lot OOP itself </a:t>
            </a:r>
          </a:p>
          <a:p>
            <a:r>
              <a:rPr lang="en-US" dirty="0"/>
              <a:t>	○ Others criticize the current designs/focus of current OOP relative the old intentions </a:t>
            </a:r>
          </a:p>
          <a:p>
            <a:r>
              <a:rPr lang="en-US" dirty="0"/>
              <a:t>● Why not procedural?</a:t>
            </a:r>
          </a:p>
          <a:p>
            <a:r>
              <a:rPr lang="en-US" dirty="0"/>
              <a:t>	 ○ No owner for data / data integrity issue / Many functions may modify the building block</a:t>
            </a:r>
          </a:p>
          <a:p>
            <a:r>
              <a:rPr lang="en-US" dirty="0"/>
              <a:t>	 ○ Harder debugging if data is corrupted </a:t>
            </a:r>
          </a:p>
        </p:txBody>
      </p:sp>
    </p:spTree>
    <p:extLst>
      <p:ext uri="{BB962C8B-B14F-4D97-AF65-F5344CB8AC3E}">
        <p14:creationId xmlns:p14="http://schemas.microsoft.com/office/powerpoint/2010/main" val="107489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5F8870-B5F9-D23F-F4CD-6FE931192441}"/>
              </a:ext>
            </a:extLst>
          </p:cNvPr>
          <p:cNvSpPr txBox="1"/>
          <p:nvPr/>
        </p:nvSpPr>
        <p:spPr>
          <a:xfrm>
            <a:off x="850231" y="1106905"/>
            <a:ext cx="99300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OO Programing Paradigm </a:t>
            </a:r>
          </a:p>
          <a:p>
            <a:r>
              <a:rPr lang="en-US" sz="2800" dirty="0"/>
              <a:t>● Programing paradigm: </a:t>
            </a:r>
            <a:r>
              <a:rPr lang="en-US" sz="2000" dirty="0"/>
              <a:t>Way of thinking/viewing/structuring for a software </a:t>
            </a:r>
            <a:endParaRPr lang="en-US" sz="2800" dirty="0"/>
          </a:p>
          <a:p>
            <a:r>
              <a:rPr lang="en-US" sz="2800" dirty="0"/>
              <a:t>● OOP is a programing paradigm </a:t>
            </a:r>
          </a:p>
          <a:p>
            <a:r>
              <a:rPr lang="en-US" sz="2800" dirty="0"/>
              <a:t>	○ View: Objects + Functions + Interactions</a:t>
            </a:r>
          </a:p>
          <a:p>
            <a:r>
              <a:rPr lang="en-US" sz="2800" dirty="0"/>
              <a:t> 	○Very centralized around object concept</a:t>
            </a:r>
          </a:p>
          <a:p>
            <a:r>
              <a:rPr lang="en-US" sz="2800" dirty="0"/>
              <a:t> ● Procedural programming is another one </a:t>
            </a:r>
          </a:p>
          <a:p>
            <a:r>
              <a:rPr lang="en-US" sz="2800" dirty="0"/>
              <a:t>	○ Bunch of files and functions + linear flow of instructions </a:t>
            </a:r>
          </a:p>
          <a:p>
            <a:r>
              <a:rPr lang="en-US" sz="2800" dirty="0"/>
              <a:t>● Other paradigm </a:t>
            </a:r>
          </a:p>
          <a:p>
            <a:r>
              <a:rPr lang="en-US" sz="2800" dirty="0"/>
              <a:t>	○ Declarative, Functional, </a:t>
            </a:r>
            <a:r>
              <a:rPr lang="en-US" sz="2800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143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5F8870-B5F9-D23F-F4CD-6FE931192441}"/>
              </a:ext>
            </a:extLst>
          </p:cNvPr>
          <p:cNvSpPr txBox="1"/>
          <p:nvPr/>
        </p:nvSpPr>
        <p:spPr>
          <a:xfrm>
            <a:off x="850231" y="1106905"/>
            <a:ext cx="993006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OO Concepts</a:t>
            </a:r>
          </a:p>
          <a:p>
            <a:r>
              <a:rPr lang="en-US" dirty="0"/>
              <a:t> Polymorphism</a:t>
            </a:r>
          </a:p>
          <a:p>
            <a:r>
              <a:rPr lang="en-US" dirty="0"/>
              <a:t>Inheritance</a:t>
            </a:r>
          </a:p>
          <a:p>
            <a:r>
              <a:rPr lang="en-US" dirty="0"/>
              <a:t>Abstraction</a:t>
            </a:r>
          </a:p>
          <a:p>
            <a:r>
              <a:rPr lang="en-US" dirty="0"/>
              <a:t>Class</a:t>
            </a:r>
          </a:p>
          <a:p>
            <a:r>
              <a:rPr lang="en-US" dirty="0"/>
              <a:t>Object</a:t>
            </a:r>
          </a:p>
          <a:p>
            <a:r>
              <a:rPr lang="en-US" dirty="0" err="1"/>
              <a:t>Encapsolation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186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5F8870-B5F9-D23F-F4CD-6FE931192441}"/>
              </a:ext>
            </a:extLst>
          </p:cNvPr>
          <p:cNvSpPr txBox="1"/>
          <p:nvPr/>
        </p:nvSpPr>
        <p:spPr>
          <a:xfrm>
            <a:off x="850231" y="1106905"/>
            <a:ext cx="993006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Design Patterns </a:t>
            </a:r>
          </a:p>
          <a:p>
            <a:endParaRPr lang="en-US" sz="3600" dirty="0"/>
          </a:p>
          <a:p>
            <a:r>
              <a:rPr lang="en-US" sz="2800" dirty="0"/>
              <a:t>● The best practices for some repetitive design sub-tasks </a:t>
            </a:r>
          </a:p>
          <a:p>
            <a:r>
              <a:rPr lang="en-US" sz="2800" dirty="0"/>
              <a:t>● Fatal Mistakes: Overstress in study &amp; Overuse in projects </a:t>
            </a:r>
          </a:p>
          <a:p>
            <a:r>
              <a:rPr lang="en-US" sz="2800" dirty="0"/>
              <a:t>● Skill: Use it in the right situation for the right reasons </a:t>
            </a:r>
          </a:p>
          <a:p>
            <a:r>
              <a:rPr lang="en-US" sz="2800" dirty="0"/>
              <a:t>● Some patterns are </a:t>
            </a:r>
          </a:p>
          <a:p>
            <a:r>
              <a:rPr lang="en-US" sz="2800" dirty="0"/>
              <a:t>	○ so important (e.g. Singleton / Factory / Proxy) </a:t>
            </a:r>
          </a:p>
          <a:p>
            <a:r>
              <a:rPr lang="en-US" sz="2800" dirty="0"/>
              <a:t>	○ others are less faced </a:t>
            </a:r>
          </a:p>
          <a:p>
            <a:r>
              <a:rPr lang="en-US" sz="2800" dirty="0"/>
              <a:t>● From a domain to another, some patterns are more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296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108FA3-9980-B671-A87B-7233A89DDB30}"/>
              </a:ext>
            </a:extLst>
          </p:cNvPr>
          <p:cNvSpPr txBox="1"/>
          <p:nvPr/>
        </p:nvSpPr>
        <p:spPr>
          <a:xfrm>
            <a:off x="3047189" y="648752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214DD-F43B-28D5-7F30-7999A1A0AA21}"/>
              </a:ext>
            </a:extLst>
          </p:cNvPr>
          <p:cNvSpPr txBox="1"/>
          <p:nvPr/>
        </p:nvSpPr>
        <p:spPr>
          <a:xfrm>
            <a:off x="822490" y="971917"/>
            <a:ext cx="101220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-apple-system"/>
                <a:hlinkClick r:id="rId2"/>
              </a:rPr>
              <a:t>https://www.youtube.com/watch?v=r0g_1XhUB2k&amp;t=24s</a:t>
            </a:r>
            <a:endParaRPr lang="ar-EG" b="1" i="0" dirty="0">
              <a:effectLst/>
              <a:latin typeface="-apple-system"/>
            </a:endParaRPr>
          </a:p>
          <a:p>
            <a:r>
              <a:rPr lang="en-US" dirty="0">
                <a:hlinkClick r:id="rId3"/>
              </a:rPr>
              <a:t>https://www.youtube.com/watch?v=NxFflt_48yA&amp;list=PLvELk9pEUpAvRzFPXgTdCehKIa3FLhlu4&amp;index=1</a:t>
            </a:r>
            <a:endParaRPr lang="ar-EG" b="1" dirty="0">
              <a:latin typeface="-apple-system"/>
            </a:endParaRPr>
          </a:p>
          <a:p>
            <a:r>
              <a:rPr lang="en-US" dirty="0">
                <a:hlinkClick r:id="rId4"/>
              </a:rPr>
              <a:t>https://www.youtube.com/playlist?list=PLLKv-zcGiHJEhtB2xd2vGudC-WWc6-Z-l</a:t>
            </a:r>
            <a:endParaRPr lang="ar-EG" b="1" dirty="0">
              <a:latin typeface="-apple-system"/>
            </a:endParaRPr>
          </a:p>
          <a:p>
            <a:r>
              <a:rPr lang="en-US" dirty="0">
                <a:hlinkClick r:id="rId5"/>
              </a:rPr>
              <a:t>https://www.youtube.com/playlist?list=PLLKv-zcGiHJH16c07tfLamQjYGvsLgjOG</a:t>
            </a:r>
            <a:endParaRPr lang="ar-EG" dirty="0"/>
          </a:p>
          <a:p>
            <a:r>
              <a:rPr lang="en-US" dirty="0">
                <a:hlinkClick r:id="rId6"/>
              </a:rPr>
              <a:t>https://www.vector.com/int/en/know-how/autosar/autosar-adaptive/#c122758</a:t>
            </a:r>
            <a:endParaRPr lang="ar-E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085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494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Roboto</vt:lpstr>
      <vt:lpstr>Office Theme</vt:lpstr>
      <vt:lpstr>Adaptive AutoSAR Overview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AutoSAR Overview</dc:title>
  <dc:creator>Ahmed Kamal</dc:creator>
  <cp:lastModifiedBy>Ahmed Kamal</cp:lastModifiedBy>
  <cp:revision>17</cp:revision>
  <dcterms:created xsi:type="dcterms:W3CDTF">2023-10-01T20:02:09Z</dcterms:created>
  <dcterms:modified xsi:type="dcterms:W3CDTF">2024-09-22T12:23:28Z</dcterms:modified>
</cp:coreProperties>
</file>